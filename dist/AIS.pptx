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8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230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48316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SVEUČILIŠTE U ZAGREBU · FSB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155329"/>
            <a:ext cx="80054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AUTOMATIZIRANI INTRALOGISTIČKI SUSTAVI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745879"/>
            <a:ext cx="8005419" cy="462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50" b="1" kern="0" spc="-133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Autonomni</a:t>
            </a:r>
            <a:r>
              <a:rPr lang="en-US" sz="8850" b="1" kern="0" spc="-133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8850" b="1" kern="0" spc="-133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viličar</a:t>
            </a:r>
            <a:r>
              <a:rPr lang="en-US" sz="8850" b="1" kern="0" spc="-133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8850" b="1" kern="0" spc="-133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</a:t>
            </a:r>
            <a:r>
              <a:rPr lang="en-US" sz="8850" b="1" kern="0" spc="-133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8850" b="1" kern="0" spc="-133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industrijska</a:t>
            </a:r>
            <a:r>
              <a:rPr lang="en-US" sz="8850" b="1" kern="0" spc="-133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8850" b="1" kern="0" spc="-133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vozila</a:t>
            </a:r>
            <a:endParaRPr lang="en-US" sz="8850" dirty="0"/>
          </a:p>
        </p:txBody>
      </p:sp>
      <p:sp>
        <p:nvSpPr>
          <p:cNvPr id="6" name="Shape 4"/>
          <p:cNvSpPr/>
          <p:nvPr/>
        </p:nvSpPr>
        <p:spPr>
          <a:xfrm>
            <a:off x="1066800" y="7731621"/>
            <a:ext cx="1524000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8743950"/>
            <a:ext cx="51284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Krešimir Hartl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9105900"/>
            <a:ext cx="51284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Mentor: prof. dr. sc. Goran Đukić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6734" y="9105900"/>
            <a:ext cx="21885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ZAGREB · 2026.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051" y="0"/>
            <a:ext cx="8686800" cy="10287000"/>
          </a:xfrm>
          <a:prstGeom prst="rect">
            <a:avLst/>
          </a:prstGeom>
          <a:solidFill>
            <a:srgbClr val="FAF9F7"/>
          </a:solidFill>
          <a:ln/>
        </p:spPr>
      </p:sp>
      <p:pic>
        <p:nvPicPr>
          <p:cNvPr id="11" name="Image 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2188" l="6348" r="89844">
                        <a14:foregroundMark x1="22266" y1="78027" x2="21149" y2="78510"/>
                        <a14:foregroundMark x1="9522" y1="84630" x2="12900" y2="85327"/>
                        <a14:foregroundMark x1="19033" y1="83013" x2="24316" y2="80371"/>
                        <a14:foregroundMark x1="18446" y1="91620" x2="21153" y2="92095"/>
                        <a14:foregroundMark x1="17719" y1="91493" x2="18112" y2="91562"/>
                        <a14:foregroundMark x1="16113" y1="91211" x2="17537" y2="91461"/>
                        <a14:foregroundMark x1="12793" y1="84766" x2="6348" y2="87207"/>
                        <a14:foregroundMark x1="17694" y1="80183" x2="17138" y2="80336"/>
                        <a14:foregroundMark x1="17062" y1="82608" x2="17969" y2="82715"/>
                        <a14:foregroundMark x1="17969" y1="82715" x2="18164" y2="81055"/>
                        <a14:foregroundMark x1="12207" y1="85547" x2="17188" y2="81445"/>
                        <a14:foregroundMark x1="17188" y1="81445" x2="11621" y2="83594"/>
                        <a14:foregroundMark x1="11621" y1="83594" x2="11328" y2="85059"/>
                        <a14:foregroundMark x1="56055" y1="21777" x2="55762" y2="22559"/>
                        <a14:foregroundMark x1="43262" y1="17969" x2="31055" y2="15332"/>
                        <a14:foregroundMark x1="31055" y1="15332" x2="41992" y2="18848"/>
                        <a14:foregroundMark x1="41992" y1="18848" x2="43457" y2="18945"/>
                        <a14:foregroundMark x1="54883" y1="22363" x2="52930" y2="24219"/>
                        <a14:foregroundMark x1="29492" y1="15723" x2="27832" y2="16504"/>
                        <a14:foregroundMark x1="18652" y1="90625" x2="36230" y2="83887"/>
                        <a14:foregroundMark x1="47852" y1="22070" x2="50781" y2="20410"/>
                        <a14:backgroundMark x1="13086" y1="86426" x2="25098" y2="81934"/>
                        <a14:backgroundMark x1="25098" y1="81934" x2="30176" y2="78320"/>
                        <a14:backgroundMark x1="30176" y1="78320" x2="29297" y2="84082"/>
                        <a14:backgroundMark x1="19046" y1="89290" x2="17188" y2="90234"/>
                        <a14:backgroundMark x1="29297" y1="84082" x2="19446" y2="89087"/>
                        <a14:backgroundMark x1="17188" y1="90234" x2="13281" y2="86230"/>
                        <a14:backgroundMark x1="20898" y1="92578" x2="44922" y2="84570"/>
                        <a14:backgroundMark x1="44922" y1="84570" x2="49707" y2="87793"/>
                        <a14:backgroundMark x1="49707" y1="87793" x2="30566" y2="93359"/>
                        <a14:backgroundMark x1="30566" y1="93359" x2="20801" y2="93066"/>
                        <a14:backgroundMark x1="9993" y1="83266" x2="11005" y2="82853"/>
                        <a14:backgroundMark x1="7520" y1="84277" x2="9984" y2="83270"/>
                        <a14:backgroundMark x1="14130" y1="79568" x2="11230" y2="79492"/>
                        <a14:backgroundMark x1="10064" y1="80686" x2="7031" y2="83789"/>
                        <a14:backgroundMark x1="11230" y1="79492" x2="10235" y2="80510"/>
                        <a14:backgroundMark x1="7031" y1="83789" x2="8008" y2="83984"/>
                        <a14:backgroundMark x1="31543" y1="79199" x2="33691" y2="81348"/>
                        <a14:backgroundMark x1="32910" y1="79785" x2="34863" y2="80762"/>
                        <a14:backgroundMark x1="18066" y1="79492" x2="21094" y2="78613"/>
                        <a14:backgroundMark x1="28711" y1="89258" x2="39844" y2="85254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601051" y="800100"/>
            <a:ext cx="868680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30422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PREGLED IZLAGANJA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66800" y="257651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2914650"/>
            <a:ext cx="1314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667000" y="2871788"/>
            <a:ext cx="9654544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Klasični vs. autonomni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200577" y="2971800"/>
            <a:ext cx="49634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RAZINE AUTONOMIJE · ARHITEKTURA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" y="3662362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0" name="Text 8"/>
          <p:cNvSpPr/>
          <p:nvPr/>
        </p:nvSpPr>
        <p:spPr>
          <a:xfrm>
            <a:off x="1123950" y="4000500"/>
            <a:ext cx="1314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667000" y="3957638"/>
            <a:ext cx="104550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Sigurnosni sustavi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3001073" y="4057650"/>
            <a:ext cx="41629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ISO 3691-4 · ZAŠTITNE ZONE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" y="474821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" y="5086350"/>
            <a:ext cx="1314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667000" y="5043488"/>
            <a:ext cx="9814582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Navigacijske tehnologije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2360615" y="5143500"/>
            <a:ext cx="4803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SLAM · LIDAR · COMPUTER VISION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583406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950" y="6172200"/>
            <a:ext cx="1314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667000" y="6129338"/>
            <a:ext cx="9814582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Primjeri iz industrije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2360615" y="6229350"/>
            <a:ext cx="4803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TOYOTA · JUNGHEINRICH · GIDEON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" y="800576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6800" y="691991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950" y="7258050"/>
            <a:ext cx="1314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2667000" y="7215188"/>
            <a:ext cx="104550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Prednosti, ROI i zaključak</a:t>
            </a:r>
            <a:endParaRPr lang="en-US" sz="3150" dirty="0"/>
          </a:p>
        </p:txBody>
      </p:sp>
      <p:sp>
        <p:nvSpPr>
          <p:cNvPr id="25" name="Text 23"/>
          <p:cNvSpPr/>
          <p:nvPr/>
        </p:nvSpPr>
        <p:spPr>
          <a:xfrm>
            <a:off x="13001073" y="7315200"/>
            <a:ext cx="41629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EKONOMIJA · INDUSTRIJA 5.0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14661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KONTEKST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562100"/>
            <a:ext cx="7605171" cy="1203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Zašto se intralogistika automatizira?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66800" y="5031284"/>
            <a:ext cx="4996891" cy="1159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600" b="1" kern="0" spc="-288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r>
              <a:rPr lang="en-US" sz="4800" b="1" kern="0" spc="-288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066800" y="6190952"/>
            <a:ext cx="49968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ozljeda u logistici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6724352"/>
            <a:ext cx="499689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skladišnih incidenata povezano je s radom viličara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451550" y="3013472"/>
            <a:ext cx="9525" cy="6397228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0" name="Text 8"/>
          <p:cNvSpPr/>
          <p:nvPr/>
        </p:nvSpPr>
        <p:spPr>
          <a:xfrm>
            <a:off x="6994475" y="5031284"/>
            <a:ext cx="4437678" cy="1159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600" b="1" kern="0" spc="-288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+20</a:t>
            </a:r>
            <a:r>
              <a:rPr lang="en-US" sz="4800" b="1" kern="0" spc="-288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994475" y="6190952"/>
            <a:ext cx="44376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godišnji rast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4475" y="6724352"/>
            <a:ext cx="44376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e-trgovina diže zahtjeve za 24/7 dostupnošću i točnošću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836301" y="3013472"/>
            <a:ext cx="9525" cy="6397228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79226" y="5031284"/>
            <a:ext cx="4437678" cy="1159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600" b="1" kern="0" spc="-288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1953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12379226" y="6190952"/>
            <a:ext cx="44376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prvi AGV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79226" y="6724352"/>
            <a:ext cx="44376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 žicom vođenog tegljača do SLAM navigacije bez infrastrukture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AUTONOMIJA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50495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Klasični → AGV → autonomni (AMR)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66800" y="4566345"/>
            <a:ext cx="3876973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943773" y="4566345"/>
            <a:ext cx="4112419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5191423" y="4061520"/>
            <a:ext cx="37404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KLASIČNI VILIČAR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056191" y="4566345"/>
            <a:ext cx="3982343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9303841" y="4061520"/>
            <a:ext cx="3606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AGV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038534" y="4566345"/>
            <a:ext cx="4182666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86184" y="4061520"/>
            <a:ext cx="3812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AUTONOMNI (AMR)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" y="5343525"/>
            <a:ext cx="387697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4794945"/>
            <a:ext cx="3497982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72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UPRAVLJANJE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43773" y="5343525"/>
            <a:ext cx="4112419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5191423" y="4794945"/>
            <a:ext cx="3740491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Ljudski operater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056191" y="5343525"/>
            <a:ext cx="398234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8" name="Text 16"/>
          <p:cNvSpPr/>
          <p:nvPr/>
        </p:nvSpPr>
        <p:spPr>
          <a:xfrm>
            <a:off x="9303841" y="4794945"/>
            <a:ext cx="3606513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Fiksne rute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3038534" y="4585395"/>
            <a:ext cx="4182666" cy="767655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3038534" y="5343525"/>
            <a:ext cx="418266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13286184" y="4794945"/>
            <a:ext cx="3812846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Dinamičke rute</a:t>
            </a:r>
            <a:endParaRPr lang="en-US" sz="2025" b="1" dirty="0"/>
          </a:p>
        </p:txBody>
      </p:sp>
      <p:sp>
        <p:nvSpPr>
          <p:cNvPr id="22" name="Shape 20"/>
          <p:cNvSpPr/>
          <p:nvPr/>
        </p:nvSpPr>
        <p:spPr>
          <a:xfrm>
            <a:off x="1066800" y="6106418"/>
            <a:ext cx="387697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5562600"/>
            <a:ext cx="349798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72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NAVIGACIJA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43773" y="6106418"/>
            <a:ext cx="4112419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5191423" y="5562600"/>
            <a:ext cx="374049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Vizualna (čovjek)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056191" y="6106418"/>
            <a:ext cx="398234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7" name="Text 25"/>
          <p:cNvSpPr/>
          <p:nvPr/>
        </p:nvSpPr>
        <p:spPr>
          <a:xfrm>
            <a:off x="9303841" y="5562600"/>
            <a:ext cx="360651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Žica, traka, reflektori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3038534" y="5353050"/>
            <a:ext cx="4182666" cy="762893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38534" y="6106418"/>
            <a:ext cx="418266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13286184" y="5562600"/>
            <a:ext cx="381284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SLAM · LiDAR · 3D vid</a:t>
            </a:r>
            <a:endParaRPr lang="en-US" sz="2025" b="1" dirty="0"/>
          </a:p>
        </p:txBody>
      </p:sp>
      <p:sp>
        <p:nvSpPr>
          <p:cNvPr id="31" name="Shape 29"/>
          <p:cNvSpPr/>
          <p:nvPr/>
        </p:nvSpPr>
        <p:spPr>
          <a:xfrm>
            <a:off x="1066800" y="6869311"/>
            <a:ext cx="387697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2" name="Text 30"/>
          <p:cNvSpPr/>
          <p:nvPr/>
        </p:nvSpPr>
        <p:spPr>
          <a:xfrm>
            <a:off x="1314450" y="6325493"/>
            <a:ext cx="349798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72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INFRASTRUKTURA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943773" y="6869311"/>
            <a:ext cx="4112419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4" name="Text 32"/>
          <p:cNvSpPr/>
          <p:nvPr/>
        </p:nvSpPr>
        <p:spPr>
          <a:xfrm>
            <a:off x="5191423" y="6325493"/>
            <a:ext cx="374049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Standardne oznake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056191" y="6869311"/>
            <a:ext cx="398234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6" name="Text 34"/>
          <p:cNvSpPr/>
          <p:nvPr/>
        </p:nvSpPr>
        <p:spPr>
          <a:xfrm>
            <a:off x="9303841" y="6325493"/>
            <a:ext cx="360651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Fizički vodiči u podu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13038534" y="6115943"/>
            <a:ext cx="4182666" cy="762893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038534" y="6869311"/>
            <a:ext cx="418266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13286184" y="6325493"/>
            <a:ext cx="381284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Nije potrebna</a:t>
            </a:r>
            <a:endParaRPr lang="en-US" sz="2025" b="1" dirty="0"/>
          </a:p>
        </p:txBody>
      </p:sp>
      <p:sp>
        <p:nvSpPr>
          <p:cNvPr id="40" name="Shape 38"/>
          <p:cNvSpPr/>
          <p:nvPr/>
        </p:nvSpPr>
        <p:spPr>
          <a:xfrm>
            <a:off x="1066800" y="7632204"/>
            <a:ext cx="387697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1" name="Text 39"/>
          <p:cNvSpPr/>
          <p:nvPr/>
        </p:nvSpPr>
        <p:spPr>
          <a:xfrm>
            <a:off x="1314450" y="7088386"/>
            <a:ext cx="349798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72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PRECIZNOST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943773" y="7632204"/>
            <a:ext cx="4112419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3" name="Text 41"/>
          <p:cNvSpPr/>
          <p:nvPr/>
        </p:nvSpPr>
        <p:spPr>
          <a:xfrm>
            <a:off x="5191423" y="7088386"/>
            <a:ext cx="374049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Ovisi o operateru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9056191" y="7632204"/>
            <a:ext cx="398234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5" name="Text 43"/>
          <p:cNvSpPr/>
          <p:nvPr/>
        </p:nvSpPr>
        <p:spPr>
          <a:xfrm>
            <a:off x="9303841" y="7088386"/>
            <a:ext cx="360651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±10–50 cm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13038534" y="6878836"/>
            <a:ext cx="4182666" cy="762893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47" name="Shape 45"/>
          <p:cNvSpPr/>
          <p:nvPr/>
        </p:nvSpPr>
        <p:spPr>
          <a:xfrm>
            <a:off x="13038534" y="7632204"/>
            <a:ext cx="418266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8" name="Text 46"/>
          <p:cNvSpPr/>
          <p:nvPr/>
        </p:nvSpPr>
        <p:spPr>
          <a:xfrm>
            <a:off x="13286184" y="7088386"/>
            <a:ext cx="381284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±1–5 cm</a:t>
            </a:r>
            <a:endParaRPr lang="en-US" sz="2025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AUTONOMIJA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66850"/>
            <a:ext cx="625987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Razine autonomije 0–5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4203561" y="1714500"/>
            <a:ext cx="31081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analogija sa SAE J3016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25175" y="2221111"/>
            <a:ext cx="6286500" cy="1123950"/>
          </a:xfrm>
          <a:prstGeom prst="roundRect">
            <a:avLst>
              <a:gd name="adj" fmla="val 4237"/>
            </a:avLst>
          </a:prstGeom>
          <a:solidFill>
            <a:srgbClr val="FBE6D6"/>
          </a:solidFill>
          <a:ln/>
          <a:effectLst>
            <a:outerShdw blurRad="190500" dist="5715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25175" y="3335536"/>
            <a:ext cx="6286500" cy="95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Shape 7"/>
          <p:cNvSpPr/>
          <p:nvPr/>
        </p:nvSpPr>
        <p:spPr>
          <a:xfrm>
            <a:off x="10925175" y="2221111"/>
            <a:ext cx="6286500" cy="95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5175" y="2221111"/>
            <a:ext cx="66675" cy="11239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Shape 9"/>
          <p:cNvSpPr/>
          <p:nvPr/>
        </p:nvSpPr>
        <p:spPr>
          <a:xfrm>
            <a:off x="17202150" y="2221111"/>
            <a:ext cx="9525" cy="11239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9500" y="2535436"/>
            <a:ext cx="590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2039600" y="2302073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Potpuna autonomija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039600" y="2664023"/>
            <a:ext cx="50231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Dinamično okruženje bez zona; flota sama dijeli zadatke i rute.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8953500" y="3383161"/>
            <a:ext cx="6286500" cy="1123950"/>
          </a:xfrm>
          <a:prstGeom prst="roundRect">
            <a:avLst>
              <a:gd name="adj" fmla="val 4237"/>
            </a:avLst>
          </a:prstGeom>
          <a:solidFill>
            <a:srgbClr val="FBE6D6"/>
          </a:solidFill>
          <a:ln/>
          <a:effectLst>
            <a:outerShdw blurRad="190500" dist="5715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53500" y="4497586"/>
            <a:ext cx="6286500" cy="95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3500" y="3383161"/>
            <a:ext cx="6286500" cy="95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8" name="Shape 16"/>
          <p:cNvSpPr/>
          <p:nvPr/>
        </p:nvSpPr>
        <p:spPr>
          <a:xfrm>
            <a:off x="8953500" y="3383161"/>
            <a:ext cx="66675" cy="11239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9" name="Shape 17"/>
          <p:cNvSpPr/>
          <p:nvPr/>
        </p:nvSpPr>
        <p:spPr>
          <a:xfrm>
            <a:off x="15230475" y="3383161"/>
            <a:ext cx="9525" cy="11239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/>
          <p:nvPr/>
        </p:nvSpPr>
        <p:spPr>
          <a:xfrm>
            <a:off x="9267825" y="3697486"/>
            <a:ext cx="590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0067925" y="3464123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Visoka autonomija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067925" y="3826073"/>
            <a:ext cx="50231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Samostalno u zadanim zonama, bez operatera; poziva pomoć po potrebi.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981825" y="4545211"/>
            <a:ext cx="6286500" cy="1123950"/>
          </a:xfrm>
          <a:prstGeom prst="roundRect">
            <a:avLst>
              <a:gd name="adj" fmla="val 4237"/>
            </a:avLst>
          </a:prstGeom>
          <a:solidFill>
            <a:srgbClr val="F1EFEA"/>
          </a:solidFill>
          <a:ln/>
          <a:effectLst>
            <a:outerShdw blurRad="190500" dist="5715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81825" y="5659636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6981825" y="4545211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981825" y="4545211"/>
            <a:ext cx="66675" cy="1123950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0" y="4545211"/>
            <a:ext cx="9525" cy="1123950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150" y="4859536"/>
            <a:ext cx="590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8096250" y="4626173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Uvjetna autonomija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8096250" y="4988123"/>
            <a:ext cx="50231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Autonomno vozi i slaže na police; operater preuzima u par sekundi.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5010150" y="5707261"/>
            <a:ext cx="6286500" cy="1123950"/>
          </a:xfrm>
          <a:prstGeom prst="roundRect">
            <a:avLst>
              <a:gd name="adj" fmla="val 4237"/>
            </a:avLst>
          </a:prstGeom>
          <a:solidFill>
            <a:srgbClr val="F1EFEA"/>
          </a:solidFill>
          <a:ln/>
          <a:effectLst>
            <a:outerShdw blurRad="190500" dist="5715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10150" y="6821686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010150" y="5707261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5010150" y="5707261"/>
            <a:ext cx="66675" cy="1123950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87125" y="5707261"/>
            <a:ext cx="9525" cy="1123950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36" name="Text 34"/>
          <p:cNvSpPr/>
          <p:nvPr/>
        </p:nvSpPr>
        <p:spPr>
          <a:xfrm>
            <a:off x="5324475" y="6021586"/>
            <a:ext cx="590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3900" dirty="0"/>
          </a:p>
        </p:txBody>
      </p:sp>
      <p:sp>
        <p:nvSpPr>
          <p:cNvPr id="37" name="Text 35"/>
          <p:cNvSpPr/>
          <p:nvPr/>
        </p:nvSpPr>
        <p:spPr>
          <a:xfrm>
            <a:off x="6124575" y="5788223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Djelomična automatizacija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6124575" y="6150173"/>
            <a:ext cx="50231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Prati liniju u podu i kontrolira brzinu; ubadanje radi operater.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3038475" y="6869311"/>
            <a:ext cx="6286500" cy="1123950"/>
          </a:xfrm>
          <a:prstGeom prst="roundRect">
            <a:avLst>
              <a:gd name="adj" fmla="val 4237"/>
            </a:avLst>
          </a:prstGeom>
          <a:solidFill>
            <a:srgbClr val="F1EFEA"/>
          </a:solidFill>
          <a:ln/>
          <a:effectLst>
            <a:outerShdw blurRad="190500" dist="5715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038475" y="7983736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3038475" y="6869311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42" name="Shape 40"/>
          <p:cNvSpPr/>
          <p:nvPr/>
        </p:nvSpPr>
        <p:spPr>
          <a:xfrm>
            <a:off x="3038475" y="6869311"/>
            <a:ext cx="66675" cy="1123950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43" name="Shape 41"/>
          <p:cNvSpPr/>
          <p:nvPr/>
        </p:nvSpPr>
        <p:spPr>
          <a:xfrm>
            <a:off x="9315450" y="6869311"/>
            <a:ext cx="9525" cy="1123950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44" name="Text 42"/>
          <p:cNvSpPr/>
          <p:nvPr/>
        </p:nvSpPr>
        <p:spPr>
          <a:xfrm>
            <a:off x="3352800" y="7183636"/>
            <a:ext cx="590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3900" dirty="0"/>
          </a:p>
        </p:txBody>
      </p:sp>
      <p:sp>
        <p:nvSpPr>
          <p:cNvPr id="45" name="Text 43"/>
          <p:cNvSpPr/>
          <p:nvPr/>
        </p:nvSpPr>
        <p:spPr>
          <a:xfrm>
            <a:off x="4152900" y="6950273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Asistirano upravljanje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4152900" y="7312223"/>
            <a:ext cx="50231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Pomoć vozaču: usporavanje u zavoju i ograničenje visine dizanja.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066800" y="8031361"/>
            <a:ext cx="6286500" cy="1123950"/>
          </a:xfrm>
          <a:prstGeom prst="roundRect">
            <a:avLst>
              <a:gd name="adj" fmla="val 4237"/>
            </a:avLst>
          </a:prstGeom>
          <a:solidFill>
            <a:srgbClr val="F1EFEA"/>
          </a:solidFill>
          <a:ln/>
          <a:effectLst>
            <a:outerShdw blurRad="190500" dist="57150" dir="5400000" algn="bl" rotWithShape="0">
              <a:srgbClr val="1A1A1A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66800" y="9145786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6800" y="8031361"/>
            <a:ext cx="6286500" cy="9525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6800" y="8031361"/>
            <a:ext cx="66675" cy="1123950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8031361"/>
            <a:ext cx="9525" cy="1123950"/>
          </a:xfrm>
          <a:prstGeom prst="rect">
            <a:avLst/>
          </a:prstGeom>
          <a:solidFill>
            <a:srgbClr val="C9C3B8"/>
          </a:solidFill>
          <a:ln/>
        </p:spPr>
      </p:sp>
      <p:sp>
        <p:nvSpPr>
          <p:cNvPr id="52" name="Text 50"/>
          <p:cNvSpPr/>
          <p:nvPr/>
        </p:nvSpPr>
        <p:spPr>
          <a:xfrm>
            <a:off x="1381125" y="8345686"/>
            <a:ext cx="590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3900" dirty="0"/>
          </a:p>
        </p:txBody>
      </p:sp>
      <p:sp>
        <p:nvSpPr>
          <p:cNvPr id="53" name="Text 51"/>
          <p:cNvSpPr/>
          <p:nvPr/>
        </p:nvSpPr>
        <p:spPr>
          <a:xfrm>
            <a:off x="2181225" y="8112323"/>
            <a:ext cx="50231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Ručno upravljanje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2181225" y="8474273"/>
            <a:ext cx="50231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Operater upravlja svime — bez ikakve računalne asistencije.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AUTONOMIJA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50495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Tehnička arhitektura: 4 podsustava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66800" y="2221111"/>
            <a:ext cx="904152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Pretvorba standardnog viličara u autonomni traži hardverske i softverske preinake.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66800" y="3436441"/>
            <a:ext cx="3895725" cy="5974259"/>
          </a:xfrm>
          <a:prstGeom prst="roundRect">
            <a:avLst>
              <a:gd name="adj" fmla="val 978"/>
            </a:avLst>
          </a:prstGeom>
          <a:solidFill>
            <a:srgbClr val="F1EFEA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9401175"/>
            <a:ext cx="3895725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3436441"/>
            <a:ext cx="3895725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0" name="Shape 8"/>
          <p:cNvSpPr/>
          <p:nvPr/>
        </p:nvSpPr>
        <p:spPr>
          <a:xfrm>
            <a:off x="1066800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1" name="Shape 9"/>
          <p:cNvSpPr/>
          <p:nvPr/>
        </p:nvSpPr>
        <p:spPr>
          <a:xfrm>
            <a:off x="4953000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3798391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4274641"/>
            <a:ext cx="3404330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 &amp; Steer-by-Wire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362075" y="4717256"/>
            <a:ext cx="3404330" cy="394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Mehaničke veze zamjenjuju servo/koračni motori upravljani signalima.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2075" y="8772525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POGON · UPRAVLJANJE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53025" y="3436441"/>
            <a:ext cx="3895725" cy="5974259"/>
          </a:xfrm>
          <a:prstGeom prst="roundRect">
            <a:avLst>
              <a:gd name="adj" fmla="val 978"/>
            </a:avLst>
          </a:prstGeom>
          <a:solidFill>
            <a:srgbClr val="F1EFEA"/>
          </a:solidFill>
          <a:ln/>
        </p:spPr>
      </p:sp>
      <p:sp>
        <p:nvSpPr>
          <p:cNvPr id="17" name="Shape 15"/>
          <p:cNvSpPr/>
          <p:nvPr/>
        </p:nvSpPr>
        <p:spPr>
          <a:xfrm>
            <a:off x="5153025" y="9401175"/>
            <a:ext cx="3895725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53025" y="3436441"/>
            <a:ext cx="3895725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9" name="Shape 17"/>
          <p:cNvSpPr/>
          <p:nvPr/>
        </p:nvSpPr>
        <p:spPr>
          <a:xfrm>
            <a:off x="5153025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0" name="Shape 18"/>
          <p:cNvSpPr/>
          <p:nvPr/>
        </p:nvSpPr>
        <p:spPr>
          <a:xfrm>
            <a:off x="9039225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1" name="Text 19"/>
          <p:cNvSpPr/>
          <p:nvPr/>
        </p:nvSpPr>
        <p:spPr>
          <a:xfrm>
            <a:off x="5448300" y="3798391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8300" y="4274641"/>
            <a:ext cx="3404330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Lift-by-Wire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5448300" y="4717256"/>
            <a:ext cx="3404330" cy="394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Proporcionalni ventili za precizno dizanje vilica i preko 10 m.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8300" y="8772525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JARBOL · HIDRAULIKA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39250" y="3436441"/>
            <a:ext cx="3895725" cy="5974259"/>
          </a:xfrm>
          <a:prstGeom prst="roundRect">
            <a:avLst>
              <a:gd name="adj" fmla="val 978"/>
            </a:avLst>
          </a:prstGeom>
          <a:solidFill>
            <a:srgbClr val="F1EFE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9250" y="9401175"/>
            <a:ext cx="3895725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9250" y="3436441"/>
            <a:ext cx="3895725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9250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25450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0" name="Text 28"/>
          <p:cNvSpPr/>
          <p:nvPr/>
        </p:nvSpPr>
        <p:spPr>
          <a:xfrm>
            <a:off x="9534525" y="3798391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34525" y="4274641"/>
            <a:ext cx="3404330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 bus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9534525" y="4717256"/>
            <a:ext cx="3404330" cy="394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Robusna mreža povezuje senzore i aktuatore u milisekundnim intervalima.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34525" y="8772525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KOMUNIKACIJA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325475" y="3436441"/>
            <a:ext cx="3895725" cy="5974259"/>
          </a:xfrm>
          <a:prstGeom prst="roundRect">
            <a:avLst>
              <a:gd name="adj" fmla="val 978"/>
            </a:avLst>
          </a:prstGeom>
          <a:solidFill>
            <a:srgbClr val="F1EFEA"/>
          </a:solidFill>
          <a:ln/>
        </p:spPr>
      </p:sp>
      <p:sp>
        <p:nvSpPr>
          <p:cNvPr id="35" name="Shape 33"/>
          <p:cNvSpPr/>
          <p:nvPr/>
        </p:nvSpPr>
        <p:spPr>
          <a:xfrm>
            <a:off x="13325475" y="9401175"/>
            <a:ext cx="3895725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325475" y="3436441"/>
            <a:ext cx="3895725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7" name="Shape 35"/>
          <p:cNvSpPr/>
          <p:nvPr/>
        </p:nvSpPr>
        <p:spPr>
          <a:xfrm>
            <a:off x="13325475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8" name="Shape 36"/>
          <p:cNvSpPr/>
          <p:nvPr/>
        </p:nvSpPr>
        <p:spPr>
          <a:xfrm>
            <a:off x="17211675" y="3436441"/>
            <a:ext cx="9525" cy="5974259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9" name="Text 37"/>
          <p:cNvSpPr/>
          <p:nvPr/>
        </p:nvSpPr>
        <p:spPr>
          <a:xfrm>
            <a:off x="13620750" y="3798391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620750" y="4274641"/>
            <a:ext cx="3404330" cy="347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Vehicle Controller</a:t>
            </a:r>
            <a:endParaRPr lang="en-US" sz="2175" dirty="0"/>
          </a:p>
        </p:txBody>
      </p:sp>
      <p:sp>
        <p:nvSpPr>
          <p:cNvPr id="41" name="Text 39"/>
          <p:cNvSpPr/>
          <p:nvPr/>
        </p:nvSpPr>
        <p:spPr>
          <a:xfrm>
            <a:off x="13620750" y="4717256"/>
            <a:ext cx="3404330" cy="394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Industrijsko računalo (RTOS): lokalizacija, planiranje, sigurnost.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620750" y="8772525"/>
            <a:ext cx="34043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MOZAK · REALNO VRIJEME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508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SIGURNOST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3210967"/>
            <a:ext cx="73651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ISO 3691-4 · ISO 13849-1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687217"/>
            <a:ext cx="7365114" cy="1203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Funkcijska sigurnost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066800" y="5786289"/>
            <a:ext cx="24765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razina izvedbe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638550" y="5233839"/>
            <a:ext cx="237142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9000" b="1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 d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1066800" y="6481614"/>
            <a:ext cx="5650992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Svi sigurnosno relevantni dijelovi upravljanja moraju zadovoljiti razinu PLd.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826996" y="3373189"/>
            <a:ext cx="4092327" cy="2159198"/>
          </a:xfrm>
          <a:prstGeom prst="roundRect">
            <a:avLst>
              <a:gd name="adj" fmla="val 1765"/>
            </a:avLst>
          </a:prstGeom>
          <a:solidFill>
            <a:srgbClr val="F1EFEA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2271" y="3649414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69971" y="3649414"/>
            <a:ext cx="29396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Redundancija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769971" y="4049464"/>
            <a:ext cx="2939699" cy="1244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Dvokanalna arhitektura (Kat. 3/4) — kvar jednog kanala ne ugrožava zaustavljanje.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128873" y="3373189"/>
            <a:ext cx="4092327" cy="2159198"/>
          </a:xfrm>
          <a:prstGeom prst="roundRect">
            <a:avLst>
              <a:gd name="adj" fmla="val 1765"/>
            </a:avLst>
          </a:prstGeom>
          <a:solidFill>
            <a:srgbClr val="F1EFEA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24148" y="3649414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&gt;90%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071848" y="3649414"/>
            <a:ext cx="29396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Dijagnostika (DC)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4071848" y="4049464"/>
            <a:ext cx="2939699" cy="943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Sustav samotestiranjem detektira većinu unutarnjih kvarova.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26996" y="5741938"/>
            <a:ext cx="4092327" cy="1857524"/>
          </a:xfrm>
          <a:prstGeom prst="roundRect">
            <a:avLst>
              <a:gd name="adj" fmla="val 2051"/>
            </a:avLst>
          </a:prstGeom>
          <a:solidFill>
            <a:srgbClr val="F1EFEA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2271" y="6018163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69971" y="6018163"/>
            <a:ext cx="29396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MTTFd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769971" y="6418213"/>
            <a:ext cx="2939699" cy="943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Srednje vrijeme do opasnog kvara klasificirano kao "visoko" (godine).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128873" y="5741938"/>
            <a:ext cx="4092327" cy="1857524"/>
          </a:xfrm>
          <a:prstGeom prst="roundRect">
            <a:avLst>
              <a:gd name="adj" fmla="val 2051"/>
            </a:avLst>
          </a:prstGeom>
          <a:solidFill>
            <a:srgbClr val="F1EFEA"/>
          </a:solidFill>
          <a:ln w="9525">
            <a:solidFill>
              <a:srgbClr val="DDD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24148" y="6018163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CCF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71848" y="6018163"/>
            <a:ext cx="29396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Zajednički kvar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4071848" y="6418213"/>
            <a:ext cx="2939699" cy="943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Jedan vanjski događaj ne smije onesposobiti oba kanala.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508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SIGURNOST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6685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Zaštitne zone i zaustavni put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66800" y="2335411"/>
            <a:ext cx="7772400" cy="7075289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325" y="2344936"/>
            <a:ext cx="7753350" cy="70562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76325" y="8582025"/>
            <a:ext cx="7753350" cy="819150"/>
          </a:xfrm>
          <a:prstGeom prst="rect">
            <a:avLst/>
          </a:prstGeom>
          <a:solidFill>
            <a:srgbClr val="0E141B">
              <a:alpha val="8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47775" y="8686800"/>
            <a:ext cx="76430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 ZONE → usporavanje · STOP ZONE → zaustavljanje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48800" y="2574578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DULJINA ZONE ZAUSTAVLJANJA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448800" y="3050828"/>
            <a:ext cx="6031557" cy="1066800"/>
          </a:xfrm>
          <a:prstGeom prst="roundRect">
            <a:avLst>
              <a:gd name="adj" fmla="val 4464"/>
            </a:avLst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91700" y="3336578"/>
            <a:ext cx="17031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3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= v·t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1475839" y="3431828"/>
            <a:ext cx="781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odziv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237839" y="3336578"/>
            <a:ext cx="3086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3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2527459" y="3336578"/>
            <a:ext cx="145167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3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v²⁄2gμ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3960078" y="3336578"/>
            <a:ext cx="7734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kern="0" spc="3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d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4714488" y="3431828"/>
            <a:ext cx="4991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448800" y="4289078"/>
            <a:ext cx="640442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 su dinamičke — šire se s brzinom i kutom zakretanja.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448800" y="6371183"/>
            <a:ext cx="1662708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9658350" y="5618708"/>
            <a:ext cx="131980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SCENARIJ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111508" y="6371183"/>
            <a:ext cx="1582787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11321058" y="5618708"/>
            <a:ext cx="123988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BRZINA V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694295" y="6371183"/>
            <a:ext cx="2015282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12903845" y="5618708"/>
            <a:ext cx="167238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PODLOGA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4709577" y="6371183"/>
            <a:ext cx="2511623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14919127" y="5618708"/>
            <a:ext cx="216872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ZAUSTAVNI PUT 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448800" y="7309396"/>
            <a:ext cx="1662708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8" name="Text 25"/>
          <p:cNvSpPr/>
          <p:nvPr/>
        </p:nvSpPr>
        <p:spPr>
          <a:xfrm>
            <a:off x="9658350" y="6542633"/>
            <a:ext cx="1319808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111508" y="7309396"/>
            <a:ext cx="1582787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0" name="Text 27"/>
          <p:cNvSpPr/>
          <p:nvPr/>
        </p:nvSpPr>
        <p:spPr>
          <a:xfrm>
            <a:off x="11321058" y="6542633"/>
            <a:ext cx="1239887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 m/s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694295" y="7309396"/>
            <a:ext cx="2015282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2" name="Text 29"/>
          <p:cNvSpPr/>
          <p:nvPr/>
        </p:nvSpPr>
        <p:spPr>
          <a:xfrm>
            <a:off x="12903845" y="6542633"/>
            <a:ext cx="1672382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suho · μ 0.5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4709577" y="7309396"/>
            <a:ext cx="251162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4" name="Text 31"/>
          <p:cNvSpPr/>
          <p:nvPr/>
        </p:nvSpPr>
        <p:spPr>
          <a:xfrm>
            <a:off x="14919127" y="6542633"/>
            <a:ext cx="2168723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 m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448800" y="8233321"/>
            <a:ext cx="1662708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6" name="Text 33"/>
          <p:cNvSpPr/>
          <p:nvPr/>
        </p:nvSpPr>
        <p:spPr>
          <a:xfrm>
            <a:off x="9658350" y="7471321"/>
            <a:ext cx="13198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1111508" y="8233321"/>
            <a:ext cx="1582787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8" name="Text 35"/>
          <p:cNvSpPr/>
          <p:nvPr/>
        </p:nvSpPr>
        <p:spPr>
          <a:xfrm>
            <a:off x="11321058" y="7471321"/>
            <a:ext cx="12398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m/s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2694295" y="8233321"/>
            <a:ext cx="2015282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0" name="Text 37"/>
          <p:cNvSpPr/>
          <p:nvPr/>
        </p:nvSpPr>
        <p:spPr>
          <a:xfrm>
            <a:off x="12903845" y="7471321"/>
            <a:ext cx="16723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suho · μ 0.5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4709577" y="8233321"/>
            <a:ext cx="251162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2" name="Text 39"/>
          <p:cNvSpPr/>
          <p:nvPr/>
        </p:nvSpPr>
        <p:spPr>
          <a:xfrm>
            <a:off x="14919127" y="7471321"/>
            <a:ext cx="216872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m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9448800" y="9157246"/>
            <a:ext cx="1662708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4" name="Text 41"/>
          <p:cNvSpPr/>
          <p:nvPr/>
        </p:nvSpPr>
        <p:spPr>
          <a:xfrm>
            <a:off x="9658350" y="8395246"/>
            <a:ext cx="13198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1111508" y="9157246"/>
            <a:ext cx="1582787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6" name="Text 43"/>
          <p:cNvSpPr/>
          <p:nvPr/>
        </p:nvSpPr>
        <p:spPr>
          <a:xfrm>
            <a:off x="11321058" y="8395246"/>
            <a:ext cx="12398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 m/s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12694295" y="9157246"/>
            <a:ext cx="2015282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48" name="Text 45"/>
          <p:cNvSpPr/>
          <p:nvPr/>
        </p:nvSpPr>
        <p:spPr>
          <a:xfrm>
            <a:off x="12903845" y="8395246"/>
            <a:ext cx="167238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mokro · μ 0.3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14709577" y="9157246"/>
            <a:ext cx="251162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50" name="Text 47"/>
          <p:cNvSpPr/>
          <p:nvPr/>
        </p:nvSpPr>
        <p:spPr>
          <a:xfrm>
            <a:off x="14919127" y="8395246"/>
            <a:ext cx="216872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 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NAVIGACIJA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6685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Senzorski sustav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66800" y="2163961"/>
            <a:ext cx="979496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Prirodna navigacija bez fizičkih vodiča — viličar se oslanja na fuziju više senzora.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66800" y="338033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" y="3804196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81200" y="3618458"/>
            <a:ext cx="130953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LiDAR (2D / 3D)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981200" y="4028033"/>
            <a:ext cx="130953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Lasersko mjerenje udaljenosti; mapiranje okoline i osnova SLAM-a.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980890" y="3718471"/>
            <a:ext cx="2183160" cy="495300"/>
          </a:xfrm>
          <a:prstGeom prst="roundRect">
            <a:avLst>
              <a:gd name="adj" fmla="val 50000"/>
            </a:avLst>
          </a:prstGeom>
          <a:ln w="9525">
            <a:solidFill>
              <a:srgbClr val="C9C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80915" y="3813721"/>
            <a:ext cx="18593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LOKALIZACIJA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" y="454238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" y="4966246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81200" y="4780508"/>
            <a:ext cx="134014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3D kamere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1981200" y="5190083"/>
            <a:ext cx="134014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Stereo / ToF vid; semantičko razumijevanje i detekcija džepova palete.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278100" y="4880521"/>
            <a:ext cx="1885950" cy="495300"/>
          </a:xfrm>
          <a:prstGeom prst="roundRect">
            <a:avLst>
              <a:gd name="adj" fmla="val 50000"/>
            </a:avLst>
          </a:prstGeom>
          <a:ln w="9525">
            <a:solidFill>
              <a:srgbClr val="C9C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478125" y="4975771"/>
            <a:ext cx="1562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PERCEPCIJA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" y="570443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0" name="Text 18"/>
          <p:cNvSpPr/>
          <p:nvPr/>
        </p:nvSpPr>
        <p:spPr>
          <a:xfrm>
            <a:off x="1123950" y="6128296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981200" y="5942558"/>
            <a:ext cx="130953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IMU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1981200" y="6352133"/>
            <a:ext cx="130953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Akcelerometar i žiroskop; mjeri ubrzanja i kompenzira drift odometrije.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980890" y="6042571"/>
            <a:ext cx="2183160" cy="495300"/>
          </a:xfrm>
          <a:prstGeom prst="roundRect">
            <a:avLst>
              <a:gd name="adj" fmla="val 50000"/>
            </a:avLst>
          </a:prstGeom>
          <a:ln w="9525">
            <a:solidFill>
              <a:srgbClr val="C9C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180915" y="6137821"/>
            <a:ext cx="18593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LOKALIZACIJA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6800" y="686648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" y="7290346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981200" y="7104608"/>
            <a:ext cx="134014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Enkoderi</a:t>
            </a:r>
            <a:endParaRPr lang="en-US" sz="2325" dirty="0"/>
          </a:p>
        </p:txBody>
      </p:sp>
      <p:sp>
        <p:nvSpPr>
          <p:cNvPr id="28" name="Text 26"/>
          <p:cNvSpPr/>
          <p:nvPr/>
        </p:nvSpPr>
        <p:spPr>
          <a:xfrm>
            <a:off x="1981200" y="7514183"/>
            <a:ext cx="134014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Mjere okretaje pogonskih kotača; odometrija i prijeđeni put.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278100" y="7204621"/>
            <a:ext cx="1885950" cy="495300"/>
          </a:xfrm>
          <a:prstGeom prst="roundRect">
            <a:avLst>
              <a:gd name="adj" fmla="val 50000"/>
            </a:avLst>
          </a:prstGeom>
          <a:ln w="9525">
            <a:solidFill>
              <a:srgbClr val="C9C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478125" y="7299871"/>
            <a:ext cx="1562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ODOMETRIJA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66800" y="919058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6800" y="8028533"/>
            <a:ext cx="16154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3" name="Text 31"/>
          <p:cNvSpPr/>
          <p:nvPr/>
        </p:nvSpPr>
        <p:spPr>
          <a:xfrm>
            <a:off x="1123950" y="8452396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981200" y="8266658"/>
            <a:ext cx="135544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Safety laser skeneri</a:t>
            </a:r>
            <a:endParaRPr lang="en-US" sz="2325" dirty="0"/>
          </a:p>
        </p:txBody>
      </p:sp>
      <p:sp>
        <p:nvSpPr>
          <p:cNvPr id="35" name="Text 33"/>
          <p:cNvSpPr/>
          <p:nvPr/>
        </p:nvSpPr>
        <p:spPr>
          <a:xfrm>
            <a:off x="1981200" y="8676233"/>
            <a:ext cx="135544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Skeniraju 270° / 360° pri tlu; aktiviraju warning i stop zone.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426630" y="8366671"/>
            <a:ext cx="1737420" cy="495300"/>
          </a:xfrm>
          <a:prstGeom prst="roundRect">
            <a:avLst>
              <a:gd name="adj" fmla="val 50000"/>
            </a:avLst>
          </a:prstGeom>
          <a:solidFill>
            <a:srgbClr val="FBE6D6"/>
          </a:solidFill>
          <a:ln w="9525">
            <a:solidFill>
              <a:srgbClr val="E859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626655" y="8461921"/>
            <a:ext cx="14135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C248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SIGURNOST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NAVIGACIJA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975372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SIMULTANEOUS LOCALIZATION &amp; MAPPING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432572"/>
            <a:ext cx="800557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SLAM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066800" y="4205883"/>
            <a:ext cx="565099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Istovremeno gradi kartu nepoznatog prostora i lokalizira se unutar nje.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5487888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5383113"/>
            <a:ext cx="73904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Graph-SLAM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5764113"/>
            <a:ext cx="7390407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Poze su čvorovi, ograničenja bridovi; optimizacija minimizira pogrešku.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6384727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6279952"/>
            <a:ext cx="7039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Loop closure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09700" y="6660952"/>
            <a:ext cx="703906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Prepoznavanje već viđenog mjesta ispravlja akumuliranu pogrešku.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7281565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7176790"/>
            <a:ext cx="3562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Implementacije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09700" y="7557790"/>
            <a:ext cx="3562375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Cartographer · LOAM · RTAB-Map.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48800" y="1428750"/>
            <a:ext cx="7772400" cy="7981950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58325" y="1438275"/>
            <a:ext cx="7753350" cy="79629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458325" y="8886825"/>
            <a:ext cx="7219206" cy="514350"/>
          </a:xfrm>
          <a:prstGeom prst="rect">
            <a:avLst/>
          </a:prstGeom>
          <a:solidFill>
            <a:srgbClr val="0E141B">
              <a:alpha val="8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629775" y="8991600"/>
            <a:ext cx="70928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Faktor-graf: poze x, orijentiri l, loop closure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NAVIGACIJA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4780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Fuzija senzora — Prošireni Kalmanov filtar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66800" y="4970859"/>
            <a:ext cx="3527971" cy="1842343"/>
          </a:xfrm>
          <a:prstGeom prst="roundRect">
            <a:avLst>
              <a:gd name="adj" fmla="val 2585"/>
            </a:avLst>
          </a:prstGeom>
          <a:solidFill>
            <a:srgbClr val="F1EFE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6803678"/>
            <a:ext cx="3527971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4970859"/>
            <a:ext cx="3527971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4970859"/>
            <a:ext cx="38100" cy="1842343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10" name="Shape 8"/>
          <p:cNvSpPr/>
          <p:nvPr/>
        </p:nvSpPr>
        <p:spPr>
          <a:xfrm>
            <a:off x="4585246" y="4970859"/>
            <a:ext cx="9525" cy="1842343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228034"/>
            <a:ext cx="30353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VISOKA FREKVENCIJA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5609034"/>
            <a:ext cx="303535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Odometrija + IMU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371600" y="5961906"/>
            <a:ext cx="3035354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Lokalno točno, dugoročno drifta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6671" y="2373511"/>
            <a:ext cx="933450" cy="7075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E859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52021" y="3975348"/>
            <a:ext cx="3527971" cy="1831032"/>
          </a:xfrm>
          <a:prstGeom prst="roundRect">
            <a:avLst>
              <a:gd name="adj" fmla="val 2601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718721" y="4222998"/>
            <a:ext cx="30844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KORAK 1 · PREDIKCIJA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18721" y="4908798"/>
            <a:ext cx="308440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FAF9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Procjena novog stanja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718721" y="5261670"/>
            <a:ext cx="308440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Kinematički model kretanja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52021" y="5977830"/>
            <a:ext cx="3527971" cy="1831032"/>
          </a:xfrm>
          <a:prstGeom prst="roundRect">
            <a:avLst>
              <a:gd name="adj" fmla="val 2601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718721" y="6225480"/>
            <a:ext cx="30844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KORAK 2 · AŽURIRANJE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8721" y="6911280"/>
            <a:ext cx="308440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FAF9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Korekcija mjerenjem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5718721" y="7264152"/>
            <a:ext cx="308440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4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Kalmanovo pojačanje 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41891" y="2373511"/>
            <a:ext cx="933450" cy="7075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E859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←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837241" y="5119390"/>
            <a:ext cx="3527971" cy="1545282"/>
          </a:xfrm>
          <a:prstGeom prst="roundRect">
            <a:avLst>
              <a:gd name="adj" fmla="val 3082"/>
            </a:avLst>
          </a:prstGeom>
          <a:solidFill>
            <a:srgbClr val="F1EFEA"/>
          </a:solidFill>
          <a:ln/>
        </p:spPr>
      </p:sp>
      <p:sp>
        <p:nvSpPr>
          <p:cNvPr id="25" name="Shape 23"/>
          <p:cNvSpPr/>
          <p:nvPr/>
        </p:nvSpPr>
        <p:spPr>
          <a:xfrm>
            <a:off x="9837241" y="6655147"/>
            <a:ext cx="3527971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837241" y="5119390"/>
            <a:ext cx="3527971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7" name="Shape 25"/>
          <p:cNvSpPr/>
          <p:nvPr/>
        </p:nvSpPr>
        <p:spPr>
          <a:xfrm>
            <a:off x="9837241" y="5119390"/>
            <a:ext cx="38100" cy="1545282"/>
          </a:xfrm>
          <a:prstGeom prst="rect">
            <a:avLst/>
          </a:prstGeom>
          <a:solidFill>
            <a:srgbClr val="9A948A"/>
          </a:solidFill>
          <a:ln/>
        </p:spPr>
      </p:sp>
      <p:sp>
        <p:nvSpPr>
          <p:cNvPr id="28" name="Shape 26"/>
          <p:cNvSpPr/>
          <p:nvPr/>
        </p:nvSpPr>
        <p:spPr>
          <a:xfrm>
            <a:off x="13355687" y="5119390"/>
            <a:ext cx="9525" cy="1545282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2041" y="5376565"/>
            <a:ext cx="30353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NISKA FREKVENCIJA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42041" y="5757565"/>
            <a:ext cx="303535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LiDAR + kamere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142041" y="6110436"/>
            <a:ext cx="30353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Globalno točno, fiksne točke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327112" y="2373511"/>
            <a:ext cx="933450" cy="7075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E859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4222462" y="4823073"/>
            <a:ext cx="2998738" cy="2138065"/>
          </a:xfrm>
          <a:prstGeom prst="roundRect">
            <a:avLst>
              <a:gd name="adj" fmla="val 2227"/>
            </a:avLst>
          </a:prstGeom>
          <a:solidFill>
            <a:srgbClr val="FBE6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4222462" y="6951613"/>
            <a:ext cx="2998738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5" name="Shape 33"/>
          <p:cNvSpPr/>
          <p:nvPr/>
        </p:nvSpPr>
        <p:spPr>
          <a:xfrm>
            <a:off x="14222462" y="4823073"/>
            <a:ext cx="2998738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6" name="Shape 34"/>
          <p:cNvSpPr/>
          <p:nvPr/>
        </p:nvSpPr>
        <p:spPr>
          <a:xfrm>
            <a:off x="14222462" y="4823073"/>
            <a:ext cx="38100" cy="213806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7" name="Shape 35"/>
          <p:cNvSpPr/>
          <p:nvPr/>
        </p:nvSpPr>
        <p:spPr>
          <a:xfrm>
            <a:off x="17211675" y="4823073"/>
            <a:ext cx="9525" cy="213806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8" name="Text 36"/>
          <p:cNvSpPr/>
          <p:nvPr/>
        </p:nvSpPr>
        <p:spPr>
          <a:xfrm>
            <a:off x="14527262" y="5080248"/>
            <a:ext cx="2493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REZULTAT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527262" y="5461248"/>
            <a:ext cx="2493913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2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Robusna lokalizacija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4527262" y="6109841"/>
            <a:ext cx="249391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Stabilna i točna u realnom vremenu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684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NAVIGACIJA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2875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Računalni vid: detekcija džepova palete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66800" y="2259211"/>
            <a:ext cx="8704957" cy="7151489"/>
          </a:xfrm>
          <a:prstGeom prst="roundRect">
            <a:avLst>
              <a:gd name="adj" fmla="val 799"/>
            </a:avLst>
          </a:prstGeom>
          <a:solidFill>
            <a:srgbClr val="0E141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259211"/>
            <a:ext cx="8704957" cy="715148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66800" y="8591550"/>
            <a:ext cx="8704957" cy="819150"/>
          </a:xfrm>
          <a:prstGeom prst="rect">
            <a:avLst/>
          </a:prstGeom>
          <a:solidFill>
            <a:srgbClr val="0E141B">
              <a:alpha val="8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38250" y="8696325"/>
            <a:ext cx="862320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Fork Pocket Detection · korekcija položaja vilica u realnom vremenu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81357" y="3899446"/>
            <a:ext cx="602763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Kamere na nosaču vilica prepoznaju 3D koordinate džepova — ubadanje uspijeva i kada je paleta nagnuta.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381357" y="5465266"/>
            <a:ext cx="7045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VALIDACIJA MODELA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381357" y="6503491"/>
            <a:ext cx="2323356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10590907" y="6055816"/>
            <a:ext cx="19804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704713" y="6503491"/>
            <a:ext cx="1955602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12914263" y="6055816"/>
            <a:ext cx="16127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MAP@0.5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4660314" y="6503491"/>
            <a:ext cx="2560886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14869864" y="6055816"/>
            <a:ext cx="22186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USPJEŠNOST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381357" y="7136904"/>
            <a:ext cx="232335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9" name="Text 16"/>
          <p:cNvSpPr/>
          <p:nvPr/>
        </p:nvSpPr>
        <p:spPr>
          <a:xfrm>
            <a:off x="10590907" y="6674941"/>
            <a:ext cx="198045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YOLOv5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704713" y="7136904"/>
            <a:ext cx="1955602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1" name="Text 18"/>
          <p:cNvSpPr/>
          <p:nvPr/>
        </p:nvSpPr>
        <p:spPr>
          <a:xfrm>
            <a:off x="12914263" y="6674941"/>
            <a:ext cx="161270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0.86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4660314" y="7136904"/>
            <a:ext cx="256088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3" name="Text 20"/>
          <p:cNvSpPr/>
          <p:nvPr/>
        </p:nvSpPr>
        <p:spPr>
          <a:xfrm>
            <a:off x="14869864" y="6674941"/>
            <a:ext cx="221861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92 %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381357" y="7146429"/>
            <a:ext cx="2323356" cy="619125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25" name="Shape 22"/>
          <p:cNvSpPr/>
          <p:nvPr/>
        </p:nvSpPr>
        <p:spPr>
          <a:xfrm>
            <a:off x="10381357" y="7756029"/>
            <a:ext cx="232335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6" name="Text 23"/>
          <p:cNvSpPr/>
          <p:nvPr/>
        </p:nvSpPr>
        <p:spPr>
          <a:xfrm>
            <a:off x="10590907" y="7298829"/>
            <a:ext cx="19804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 R-CNN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2704713" y="7146429"/>
            <a:ext cx="1955602" cy="619125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28" name="Shape 25"/>
          <p:cNvSpPr/>
          <p:nvPr/>
        </p:nvSpPr>
        <p:spPr>
          <a:xfrm>
            <a:off x="12704713" y="7756029"/>
            <a:ext cx="1955602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9" name="Text 26"/>
          <p:cNvSpPr/>
          <p:nvPr/>
        </p:nvSpPr>
        <p:spPr>
          <a:xfrm>
            <a:off x="12914263" y="7298829"/>
            <a:ext cx="16127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0.89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4660314" y="7146429"/>
            <a:ext cx="2560886" cy="619125"/>
          </a:xfrm>
          <a:prstGeom prst="rect">
            <a:avLst/>
          </a:prstGeom>
          <a:solidFill>
            <a:srgbClr val="FBE6D6"/>
          </a:solidFill>
          <a:ln/>
        </p:spPr>
      </p:sp>
      <p:sp>
        <p:nvSpPr>
          <p:cNvPr id="31" name="Shape 28"/>
          <p:cNvSpPr/>
          <p:nvPr/>
        </p:nvSpPr>
        <p:spPr>
          <a:xfrm>
            <a:off x="14660314" y="7756029"/>
            <a:ext cx="2560886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32" name="Text 29"/>
          <p:cNvSpPr/>
          <p:nvPr/>
        </p:nvSpPr>
        <p:spPr>
          <a:xfrm>
            <a:off x="14869864" y="7298829"/>
            <a:ext cx="2218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94 %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3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PRIMJERI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781002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TOYOTA MATERIAL HANDLING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238202"/>
            <a:ext cx="800557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Autopilot &amp; T-ONE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066800" y="4011513"/>
            <a:ext cx="602763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Autonomija na platformi standardnih viličara — laka dostupnost rezervnih dijelova.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5682109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5577334"/>
            <a:ext cx="62891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Fleet manager T-ONE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5958334"/>
            <a:ext cx="6289151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"Mozak" automatizacije; integracija s WMS/ERP (SAP EWM).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6578947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6474172"/>
            <a:ext cx="5505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Dinamičko rutiranje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09700" y="6855172"/>
            <a:ext cx="5505364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VRP i najkraći putovi (A*, Dijkstra) po grafu skladišta.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7475786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7371011"/>
            <a:ext cx="521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Traffic control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09700" y="7752011"/>
            <a:ext cx="5214260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Rezervacija zona sprječava zastoje na raskrižjima.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48800" y="1428750"/>
            <a:ext cx="7772400" cy="7981950"/>
          </a:xfrm>
          <a:prstGeom prst="roundRect">
            <a:avLst>
              <a:gd name="adj" fmla="val 735"/>
            </a:avLst>
          </a:prstGeom>
          <a:solidFill>
            <a:srgbClr val="EFECE6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44050" y="2781002"/>
            <a:ext cx="7753350" cy="538966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458325" y="8886825"/>
            <a:ext cx="4000500" cy="514350"/>
          </a:xfrm>
          <a:prstGeom prst="rect">
            <a:avLst/>
          </a:prstGeom>
          <a:solidFill>
            <a:srgbClr val="0E141B">
              <a:alpha val="8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629775" y="8991600"/>
            <a:ext cx="37776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Toyota Autopilot · SAE160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3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PRIMJERI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· 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66800" y="1428750"/>
            <a:ext cx="7772400" cy="7981950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427888"/>
            <a:ext cx="7753350" cy="57593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76325" y="8886825"/>
            <a:ext cx="4293245" cy="514350"/>
          </a:xfrm>
          <a:prstGeom prst="rect">
            <a:avLst/>
          </a:prstGeom>
          <a:solidFill>
            <a:srgbClr val="0E141B">
              <a:alpha val="8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247775" y="8991600"/>
            <a:ext cx="40791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Jungheinrich EKX 516a · VNA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448800" y="343093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JUNGHEINRICH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448800" y="3888135"/>
            <a:ext cx="800557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EKX 516a — visokoregalno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9448800" y="4756696"/>
            <a:ext cx="1996529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 m</a:t>
            </a:r>
            <a:endParaRPr lang="en-US" sz="5550" dirty="0"/>
          </a:p>
        </p:txBody>
      </p:sp>
      <p:sp>
        <p:nvSpPr>
          <p:cNvPr id="12" name="Text 9"/>
          <p:cNvSpPr/>
          <p:nvPr/>
        </p:nvSpPr>
        <p:spPr>
          <a:xfrm>
            <a:off x="9448800" y="5518696"/>
            <a:ext cx="1996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VISINA DIZANJA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826329" y="4756696"/>
            <a:ext cx="249808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50" b="1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± 5 mm</a:t>
            </a:r>
            <a:endParaRPr lang="en-US" sz="5550" dirty="0"/>
          </a:p>
        </p:txBody>
      </p:sp>
      <p:sp>
        <p:nvSpPr>
          <p:cNvPr id="14" name="Text 11"/>
          <p:cNvSpPr/>
          <p:nvPr/>
        </p:nvSpPr>
        <p:spPr>
          <a:xfrm>
            <a:off x="11826329" y="5518696"/>
            <a:ext cx="24980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PRECIZNOST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448800" y="6128296"/>
            <a:ext cx="602763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Rad u uskim prolazima (VNA). </a:t>
            </a:r>
            <a:r>
              <a:rPr lang="en-US" sz="24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Logistics Interface </a:t>
            </a: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plug-and-play integracija s WMS-om bez skupog programiranja.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3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PRIMJERI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54082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595265"/>
            <a:ext cx="10364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GIDEON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79439" y="2547640"/>
            <a:ext cx="1472208" cy="4000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2293739" y="2595265"/>
            <a:ext cx="13198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HRVATSKA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3157240"/>
            <a:ext cx="8103526" cy="1203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3D vision-based autonomija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066800" y="4589562"/>
            <a:ext cx="5650992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Robusno snalaženje u dinamičnim okruženjima — bez ikakve dodatne infrastrukture.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66800" y="6260157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6155382"/>
            <a:ext cx="5601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Utovar / istovar kamiona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09700" y="6536382"/>
            <a:ext cx="5601632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Kompleksne operacije uz stalne promjene rasporeda.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" y="7156996"/>
            <a:ext cx="133350" cy="13335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7052221"/>
            <a:ext cx="53376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Kolaborativni rad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09700" y="7433221"/>
            <a:ext cx="5337661" cy="34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Hibridni način — čovjek po potrebi preuzima vozilo.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6800" y="9105900"/>
            <a:ext cx="69932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VDA 5050 · interoperabilnost mješovitih flota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051" y="0"/>
            <a:ext cx="8686800" cy="10287000"/>
          </a:xfrm>
          <a:prstGeom prst="rect">
            <a:avLst/>
          </a:prstGeom>
          <a:solidFill>
            <a:srgbClr val="0E141B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051" y="0"/>
            <a:ext cx="8686800" cy="10287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601051" y="0"/>
            <a:ext cx="8686800" cy="10287000"/>
          </a:xfrm>
          <a:prstGeom prst="rect">
            <a:avLst/>
          </a:prstGeom>
          <a:solidFill>
            <a:srgbClr val="FAF9F7"/>
          </a:solidFill>
          <a:ln/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E8FADA7-90BE-7941-2BE2-42B60EEF17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55" r="216"/>
          <a:stretch/>
        </p:blipFill>
        <p:spPr>
          <a:xfrm>
            <a:off x="10551528" y="-105877"/>
            <a:ext cx="7736472" cy="104134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508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ZAKLJUČAK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2875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Prednosti i ograničenja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66800" y="2335411"/>
            <a:ext cx="7886700" cy="6004768"/>
          </a:xfrm>
          <a:prstGeom prst="roundRect">
            <a:avLst>
              <a:gd name="adj" fmla="val 952"/>
            </a:avLst>
          </a:prstGeom>
          <a:solidFill>
            <a:srgbClr val="F1EFE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8330654"/>
            <a:ext cx="78867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2335411"/>
            <a:ext cx="7886700" cy="47625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2335411"/>
            <a:ext cx="9525" cy="6004768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0" name="Shape 8"/>
          <p:cNvSpPr/>
          <p:nvPr/>
        </p:nvSpPr>
        <p:spPr>
          <a:xfrm>
            <a:off x="8943975" y="2335411"/>
            <a:ext cx="9525" cy="6004768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1" name="Text 9"/>
          <p:cNvSpPr/>
          <p:nvPr/>
        </p:nvSpPr>
        <p:spPr>
          <a:xfrm>
            <a:off x="1457325" y="2687836"/>
            <a:ext cx="7318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PREDNOSTI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57325" y="3802707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838325" y="3802707"/>
            <a:ext cx="475085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24/7 rad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bez stanki, smjena i bolovanja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57325" y="4858494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838325" y="4858494"/>
            <a:ext cx="609692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Veća sigurnost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PLd skeneri i trenutno zaustavljanje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57325" y="5914281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838325" y="5914281"/>
            <a:ext cx="621388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Manjak radne snage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ublažava nedostatak operatera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57325" y="6970068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838325" y="6970068"/>
            <a:ext cx="510588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Sljedivost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100 % točnost inventara (WMS)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34500" y="2335411"/>
            <a:ext cx="7886700" cy="6004768"/>
          </a:xfrm>
          <a:prstGeom prst="roundRect">
            <a:avLst>
              <a:gd name="adj" fmla="val 952"/>
            </a:avLst>
          </a:prstGeom>
          <a:solidFill>
            <a:srgbClr val="F1EFEA"/>
          </a:solidFill>
          <a:ln/>
        </p:spPr>
      </p:sp>
      <p:sp>
        <p:nvSpPr>
          <p:cNvPr id="21" name="Shape 19"/>
          <p:cNvSpPr/>
          <p:nvPr/>
        </p:nvSpPr>
        <p:spPr>
          <a:xfrm>
            <a:off x="9334500" y="8330654"/>
            <a:ext cx="78867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2" name="Shape 20"/>
          <p:cNvSpPr/>
          <p:nvPr/>
        </p:nvSpPr>
        <p:spPr>
          <a:xfrm>
            <a:off x="9334500" y="2335411"/>
            <a:ext cx="7886700" cy="476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3" name="Shape 21"/>
          <p:cNvSpPr/>
          <p:nvPr/>
        </p:nvSpPr>
        <p:spPr>
          <a:xfrm>
            <a:off x="9334500" y="2335411"/>
            <a:ext cx="9525" cy="6004768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11675" y="2335411"/>
            <a:ext cx="9525" cy="6004768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25" name="Text 23"/>
          <p:cNvSpPr/>
          <p:nvPr/>
        </p:nvSpPr>
        <p:spPr>
          <a:xfrm>
            <a:off x="9725025" y="2687836"/>
            <a:ext cx="7318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OGRANIČENJA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25025" y="3802707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106025" y="3802707"/>
            <a:ext cx="597260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Wi-Fi / 5G roaming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prebacivanje &lt; 200 ms ili stop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725025" y="4858494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106025" y="4858494"/>
            <a:ext cx="589396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Kvaliteta podova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DIN 18202; proklizavanje i drift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725025" y="5914281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106025" y="5914281"/>
            <a:ext cx="616314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Okolišni uvjeti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prašina, vlaga, promjene osvjetljenja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725025" y="6970068"/>
            <a:ext cx="2857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0106025" y="6970068"/>
            <a:ext cx="602088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Kognitivna fleksibilnost </a:t>
            </a:r>
            <a:r>
              <a:rPr lang="en-US" sz="195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folija se čita kao prepreka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66800" y="8606879"/>
            <a:ext cx="16154400" cy="803821"/>
          </a:xfrm>
          <a:prstGeom prst="roundRect">
            <a:avLst>
              <a:gd name="adj" fmla="val 7110"/>
            </a:avLst>
          </a:prstGeom>
          <a:solidFill>
            <a:srgbClr val="FBE6D6"/>
          </a:solidFill>
          <a:ln/>
        </p:spPr>
      </p:sp>
      <p:sp>
        <p:nvSpPr>
          <p:cNvPr id="35" name="Text 33"/>
          <p:cNvSpPr/>
          <p:nvPr/>
        </p:nvSpPr>
        <p:spPr>
          <a:xfrm>
            <a:off x="1428750" y="8856315"/>
            <a:ext cx="14753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C248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ZAKLJUČAK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075533" y="8835479"/>
            <a:ext cx="1328145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Najveći učinak u okruženjima </a:t>
            </a:r>
            <a:r>
              <a:rPr lang="en-US" sz="2100" b="1" dirty="0">
                <a:solidFill>
                  <a:srgbClr val="C248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visokog intenziteta </a:t>
            </a:r>
            <a:r>
              <a:rPr lang="en-US" sz="210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rad u 2+ smjene s visokim udjelom troška ljudskog rada.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508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ZAKLJUČAK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1409700"/>
            <a:ext cx="1663903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Isplativost: troškovi kroz 5 godina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66800" y="2292548"/>
            <a:ext cx="323850" cy="47625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504950" y="2163961"/>
            <a:ext cx="26890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Klasični viličar (3 smjene)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9543" y="2292548"/>
            <a:ext cx="323850" cy="47625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4877693" y="2163961"/>
            <a:ext cx="18899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Autonomni (AMR)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64011"/>
            <a:ext cx="8704957" cy="684668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81357" y="3408015"/>
            <a:ext cx="70450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950" b="1" kern="0" spc="-99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~18 mj</a:t>
            </a:r>
            <a:endParaRPr lang="en-US" sz="4950" dirty="0"/>
          </a:p>
        </p:txBody>
      </p:sp>
      <p:sp>
        <p:nvSpPr>
          <p:cNvPr id="12" name="Text 9"/>
          <p:cNvSpPr/>
          <p:nvPr/>
        </p:nvSpPr>
        <p:spPr>
          <a:xfrm>
            <a:off x="10381357" y="4112865"/>
            <a:ext cx="7045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RAZDOBLJE POVRATA (PBP)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381357" y="4627215"/>
            <a:ext cx="683984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4" name="Text 11"/>
          <p:cNvSpPr/>
          <p:nvPr/>
        </p:nvSpPr>
        <p:spPr>
          <a:xfrm>
            <a:off x="10381357" y="4846290"/>
            <a:ext cx="70450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950" b="1" kern="0" spc="-99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120 %</a:t>
            </a:r>
            <a:endParaRPr lang="en-US" sz="4950" dirty="0"/>
          </a:p>
        </p:txBody>
      </p:sp>
      <p:sp>
        <p:nvSpPr>
          <p:cNvPr id="15" name="Text 12"/>
          <p:cNvSpPr/>
          <p:nvPr/>
        </p:nvSpPr>
        <p:spPr>
          <a:xfrm>
            <a:off x="10381357" y="5551140"/>
            <a:ext cx="7045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POVRAT INVESTICIJE (ROI)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381357" y="6065490"/>
            <a:ext cx="6839843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7" name="Text 14"/>
          <p:cNvSpPr/>
          <p:nvPr/>
        </p:nvSpPr>
        <p:spPr>
          <a:xfrm>
            <a:off x="10381357" y="6284565"/>
            <a:ext cx="70450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950" b="1" kern="0" spc="-99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150k €</a:t>
            </a:r>
            <a:endParaRPr lang="en-US" sz="4950" dirty="0"/>
          </a:p>
        </p:txBody>
      </p:sp>
      <p:sp>
        <p:nvSpPr>
          <p:cNvPr id="18" name="Text 15"/>
          <p:cNvSpPr/>
          <p:nvPr/>
        </p:nvSpPr>
        <p:spPr>
          <a:xfrm>
            <a:off x="10381357" y="6989415"/>
            <a:ext cx="7045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UŠTEDA — TCO 166k vs 316k €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381357" y="7713315"/>
            <a:ext cx="704503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36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CAPEX 125k vs 35k € OPEX 10,3k vs 70,5k € / god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25086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ZAKLJUČAK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3219599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INDUSTRIJA 5.0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676799"/>
            <a:ext cx="8005572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67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Sinergija čovjeka i stroja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066800" y="4488210"/>
            <a:ext cx="5650992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Hibridni, kolaborativni viličari: rutinu rade autonomno, čovjek ostaje za složeno i nestandardno.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6111180"/>
            <a:ext cx="1333500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6415980"/>
            <a:ext cx="6027633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Budućnost: AI za prediktivnu analizu tokova, 5G mreže i mješovite flote (VDA 5050).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48800" y="30480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EVOLUCIJA INTRALOGISTIKE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72600" y="3967163"/>
            <a:ext cx="1295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1953.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0934700" y="3790950"/>
            <a:ext cx="6475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Prvi AGV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934700" y="4191000"/>
            <a:ext cx="6475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Žicom vođeno vozilo bez vozača.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72600" y="5033963"/>
            <a:ext cx="1295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2000-e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0934700" y="4857750"/>
            <a:ext cx="6475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AMR + SLAM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934700" y="5257800"/>
            <a:ext cx="6475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Prirodna navigacija bez infrastrukture.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6100763"/>
            <a:ext cx="1295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4.0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0934700" y="5924550"/>
            <a:ext cx="6475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Industrija 4.0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934700" y="6324600"/>
            <a:ext cx="6475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Integracija s WMS / ERP, pametna skladišta.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72600" y="7167563"/>
            <a:ext cx="1295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5.0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0934700" y="6991350"/>
            <a:ext cx="6475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Industrija 5.0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934700" y="7391400"/>
            <a:ext cx="64750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6A65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Kolaboracija čovjeka i stroja.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966788"/>
            <a:ext cx="123825" cy="12382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323975" y="876300"/>
            <a:ext cx="71580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AUTONOMNI VILIČARI I INDUSTRIJSKA VOZILA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0980" y="876300"/>
            <a:ext cx="1356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·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3587055"/>
            <a:ext cx="8005572" cy="1979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156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Hvala </a:t>
            </a:r>
            <a:r>
              <a:rPr lang="en-US" sz="7800" b="1" kern="0" spc="-156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</a:t>
            </a:r>
            <a:r>
              <a:rPr lang="en-US" sz="7800" b="1" kern="0" spc="-156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156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pozornosti</a:t>
            </a:r>
            <a:r>
              <a:rPr lang="en-US" sz="7800" b="1" kern="0" spc="-156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066800" y="6266557"/>
            <a:ext cx="1047750" cy="381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2381250" y="5947470"/>
            <a:ext cx="2159198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E8590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Pitanja?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448800" y="3167063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A65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OTVORENA PITANJA ZA RASPRAVU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48800" y="3586163"/>
            <a:ext cx="7772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0" name="Text 8"/>
          <p:cNvSpPr/>
          <p:nvPr/>
        </p:nvSpPr>
        <p:spPr>
          <a:xfrm>
            <a:off x="9448800" y="3881438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6079" y="3843338"/>
            <a:ext cx="7616974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Kome pripada odgovornost pri nesreći autonomnog vozila?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448800" y="4868168"/>
            <a:ext cx="7772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5163443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26079" y="5125343"/>
            <a:ext cx="7616974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Isplati li se automatizacija malim i srednjim poduzećima?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448800" y="6150173"/>
            <a:ext cx="7772400" cy="9525"/>
          </a:xfrm>
          <a:prstGeom prst="rect">
            <a:avLst/>
          </a:prstGeom>
          <a:solidFill>
            <a:srgbClr val="DDD8CF"/>
          </a:solidFill>
          <a:ln/>
        </p:spPr>
      </p:sp>
      <p:sp>
        <p:nvSpPr>
          <p:cNvPr id="16" name="Text 14"/>
          <p:cNvSpPr/>
          <p:nvPr/>
        </p:nvSpPr>
        <p:spPr>
          <a:xfrm>
            <a:off x="9448800" y="6445448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859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66800" y="8743950"/>
            <a:ext cx="66823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Krešimir Hartl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6800" y="9105900"/>
            <a:ext cx="66823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Fakultet strojarstva i brodogradnje · 2026.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42155" y="9105900"/>
            <a:ext cx="51284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A94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Mentor: prof. dr. sc. Goran Đukić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0362C58-ECD4-2647-96B2-561545824FE1}"/>
              </a:ext>
            </a:extLst>
          </p:cNvPr>
          <p:cNvSpPr/>
          <p:nvPr/>
        </p:nvSpPr>
        <p:spPr>
          <a:xfrm>
            <a:off x="9826079" y="6369248"/>
            <a:ext cx="7616974" cy="1673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Kako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osigurati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siguran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i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učinkovit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suživot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ljudskih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radnika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i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autonomnih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viličara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u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istom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dinamičnom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skladišnom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GB" sz="2550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prostoru</a:t>
            </a:r>
            <a:r>
              <a:rPr lang="en-GB" sz="25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?</a:t>
            </a:r>
            <a:endParaRPr lang="en-US" sz="2550" dirty="0">
              <a:solidFill>
                <a:srgbClr val="1A1A1A"/>
              </a:solidFill>
              <a:latin typeface="Space Grotesk" pitchFamily="34" charset="0"/>
              <a:ea typeface="Space Grotesk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</Words>
  <Application>Microsoft Office PowerPoint</Application>
  <PresentationFormat>Custom</PresentationFormat>
  <Paragraphs>341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IBM Plex Mono</vt:lpstr>
      <vt:lpstr>IBM Plex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Krešimir Hartl</cp:lastModifiedBy>
  <cp:revision>5</cp:revision>
  <dcterms:created xsi:type="dcterms:W3CDTF">2026-05-31T19:47:03Z</dcterms:created>
  <dcterms:modified xsi:type="dcterms:W3CDTF">2026-05-31T20:15:11Z</dcterms:modified>
</cp:coreProperties>
</file>